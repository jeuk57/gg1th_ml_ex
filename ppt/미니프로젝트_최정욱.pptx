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7" r:id="rId2"/>
    <p:sldId id="258" r:id="rId3"/>
    <p:sldId id="259" r:id="rId4"/>
    <p:sldId id="260" r:id="rId5"/>
    <p:sldId id="279" r:id="rId6"/>
    <p:sldId id="269" r:id="rId7"/>
    <p:sldId id="262" r:id="rId8"/>
    <p:sldId id="263" r:id="rId9"/>
    <p:sldId id="264" r:id="rId10"/>
    <p:sldId id="277" r:id="rId11"/>
    <p:sldId id="278" r:id="rId1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85" autoAdjust="0"/>
    <p:restoredTop sz="94660"/>
  </p:normalViewPr>
  <p:slideViewPr>
    <p:cSldViewPr snapToGrid="0">
      <p:cViewPr varScale="1">
        <p:scale>
          <a:sx n="94" d="100"/>
          <a:sy n="94" d="100"/>
        </p:scale>
        <p:origin x="102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6AA0ED-A1B8-4F96-B5A0-24F7F61BCC5A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1D3A25-7021-4B0A-8BED-EF434CAF3DA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81746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B3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71446" cy="6858000"/>
          </a:xfrm>
          <a:prstGeom prst="rect">
            <a:avLst/>
          </a:prstGeom>
          <a:solidFill>
            <a:srgbClr val="20B8C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81030" y="1428750"/>
            <a:ext cx="7334067" cy="1123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주행조건 기반</a:t>
            </a:r>
            <a:endParaRPr lang="en-US" sz="3600" dirty="0"/>
          </a:p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전기 화물차 충전 계획 추천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819130" y="2952750"/>
            <a:ext cx="6857829" cy="64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50" dirty="0">
                <a:solidFill>
                  <a:srgbClr val="D8E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에너지 소비를 예측하고, 안전 SOC를 유지하면서</a:t>
            </a:r>
            <a:endParaRPr lang="en-US" sz="1750" dirty="0"/>
          </a:p>
          <a:p>
            <a:pPr marL="0" indent="0" algn="l">
              <a:buNone/>
            </a:pPr>
            <a:r>
              <a:rPr lang="en-US" sz="1750" dirty="0">
                <a:solidFill>
                  <a:srgbClr val="D8E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충전 횟수와 총 충전시간을 줄이는 End-to-End 시스템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8291305" y="1219200"/>
            <a:ext cx="0" cy="3714750"/>
          </a:xfrm>
          <a:prstGeom prst="line">
            <a:avLst/>
          </a:prstGeom>
          <a:solidFill>
            <a:srgbClr val="FFFFFF">
              <a:alpha val="0"/>
            </a:srgbClr>
          </a:solidFill>
          <a:ln w="9525">
            <a:solidFill>
              <a:srgbClr val="31506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953176" y="1485900"/>
            <a:ext cx="9525" cy="1123950"/>
          </a:xfrm>
          <a:prstGeom prst="rect">
            <a:avLst/>
          </a:prstGeom>
          <a:solidFill>
            <a:srgbClr val="42668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7953176" y="2762250"/>
            <a:ext cx="9525" cy="1123950"/>
          </a:xfrm>
          <a:prstGeom prst="rect">
            <a:avLst/>
          </a:prstGeom>
          <a:solidFill>
            <a:srgbClr val="42668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8229394" y="1524000"/>
            <a:ext cx="152396" cy="152400"/>
          </a:xfrm>
          <a:prstGeom prst="ellipse">
            <a:avLst/>
          </a:prstGeom>
          <a:solidFill>
            <a:srgbClr val="20B8CD"/>
          </a:solidFill>
          <a:ln w="47625">
            <a:solidFill>
              <a:srgbClr val="12345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8638959" y="1485900"/>
            <a:ext cx="2285943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조건 입력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638959" y="1762125"/>
            <a:ext cx="2285943" cy="4417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AFC3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속도 · 적재 · 온도 · HVAC · 도로·배터리 조건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229394" y="2800350"/>
            <a:ext cx="152396" cy="152400"/>
          </a:xfrm>
          <a:prstGeom prst="ellipse">
            <a:avLst/>
          </a:prstGeom>
          <a:solidFill>
            <a:srgbClr val="20B8CD"/>
          </a:solidFill>
          <a:ln w="47625">
            <a:solidFill>
              <a:srgbClr val="12345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8638959" y="2762250"/>
            <a:ext cx="2285943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소비량 예측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638959" y="3038475"/>
            <a:ext cx="2285943" cy="4417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AFC3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XGBoost Regressor 기반 Segment별 추정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229394" y="4095750"/>
            <a:ext cx="152396" cy="152400"/>
          </a:xfrm>
          <a:prstGeom prst="ellipse">
            <a:avLst/>
          </a:prstGeom>
          <a:solidFill>
            <a:srgbClr val="20B8CD"/>
          </a:solidFill>
          <a:ln w="47625">
            <a:solidFill>
              <a:srgbClr val="12345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8638959" y="4057650"/>
            <a:ext cx="2285943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충전 계획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638959" y="4333875"/>
            <a:ext cx="2285943" cy="4417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AFC3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안전 SOC 제약 아래 횟수·시간 최소화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2466238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71450"/>
          </a:xfrm>
          <a:prstGeom prst="rect">
            <a:avLst/>
          </a:prstGeom>
          <a:solidFill>
            <a:srgbClr val="0B274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783" y="514350"/>
            <a:ext cx="66360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68E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85782" y="819150"/>
            <a:ext cx="680213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0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발표는 5개 대분류 순서로 진행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85783" y="1671638"/>
            <a:ext cx="10820129" cy="0"/>
          </a:xfrm>
          <a:prstGeom prst="line">
            <a:avLst/>
          </a:prstGeom>
          <a:solidFill>
            <a:srgbClr val="FFFFFF">
              <a:alpha val="0"/>
            </a:srgbClr>
          </a:solidFill>
          <a:ln w="9525">
            <a:solidFill>
              <a:srgbClr val="CAD4D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783" y="1881187"/>
            <a:ext cx="838179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7A0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1523962" y="1909762"/>
            <a:ext cx="256035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0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비즈니스 문제 정의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10648684" y="2071688"/>
            <a:ext cx="857229" cy="19050"/>
          </a:xfrm>
          <a:prstGeom prst="rect">
            <a:avLst/>
          </a:prstGeom>
          <a:solidFill>
            <a:srgbClr val="A7B9C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783" y="2490787"/>
            <a:ext cx="10820129" cy="0"/>
          </a:xfrm>
          <a:prstGeom prst="line">
            <a:avLst/>
          </a:prstGeom>
          <a:solidFill>
            <a:srgbClr val="FFFFFF">
              <a:alpha val="0"/>
            </a:srgbClr>
          </a:solidFill>
          <a:ln w="9525">
            <a:solidFill>
              <a:srgbClr val="CAD4D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783" y="2700338"/>
            <a:ext cx="838179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7A0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1523962" y="2728913"/>
            <a:ext cx="256035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0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탐색 및 해석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10648684" y="2890837"/>
            <a:ext cx="857229" cy="19050"/>
          </a:xfrm>
          <a:prstGeom prst="rect">
            <a:avLst/>
          </a:prstGeom>
          <a:solidFill>
            <a:srgbClr val="A7B9C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5783" y="3309938"/>
            <a:ext cx="10820129" cy="0"/>
          </a:xfrm>
          <a:prstGeom prst="line">
            <a:avLst/>
          </a:prstGeom>
          <a:solidFill>
            <a:srgbClr val="FFFFFF">
              <a:alpha val="0"/>
            </a:srgbClr>
          </a:solidFill>
          <a:ln w="9525">
            <a:solidFill>
              <a:srgbClr val="CAD4D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783" y="3519487"/>
            <a:ext cx="838179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7A0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1523962" y="3548062"/>
            <a:ext cx="319027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0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모델 설계 및 성능 평가</a:t>
            </a:r>
            <a:endParaRPr lang="en-US" sz="1900" dirty="0"/>
          </a:p>
        </p:txBody>
      </p:sp>
      <p:sp>
        <p:nvSpPr>
          <p:cNvPr id="17" name="Shape 15"/>
          <p:cNvSpPr/>
          <p:nvPr/>
        </p:nvSpPr>
        <p:spPr>
          <a:xfrm>
            <a:off x="10648684" y="3709987"/>
            <a:ext cx="857229" cy="19050"/>
          </a:xfrm>
          <a:prstGeom prst="rect">
            <a:avLst/>
          </a:prstGeom>
          <a:solidFill>
            <a:srgbClr val="A7B9C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5783" y="4129088"/>
            <a:ext cx="10820129" cy="0"/>
          </a:xfrm>
          <a:prstGeom prst="line">
            <a:avLst/>
          </a:prstGeom>
          <a:solidFill>
            <a:srgbClr val="FFFFFF">
              <a:alpha val="0"/>
            </a:srgbClr>
          </a:solidFill>
          <a:ln w="9525">
            <a:solidFill>
              <a:srgbClr val="CAD4D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783" y="4338637"/>
            <a:ext cx="838179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7A0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250" dirty="0"/>
          </a:p>
        </p:txBody>
      </p:sp>
      <p:sp>
        <p:nvSpPr>
          <p:cNvPr id="20" name="Text 18"/>
          <p:cNvSpPr/>
          <p:nvPr/>
        </p:nvSpPr>
        <p:spPr>
          <a:xfrm>
            <a:off x="1523962" y="4367212"/>
            <a:ext cx="363731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0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의사결정 제안 및 활용 계획</a:t>
            </a:r>
            <a:endParaRPr lang="en-US" sz="1900" dirty="0"/>
          </a:p>
        </p:txBody>
      </p:sp>
      <p:sp>
        <p:nvSpPr>
          <p:cNvPr id="21" name="Shape 19"/>
          <p:cNvSpPr/>
          <p:nvPr/>
        </p:nvSpPr>
        <p:spPr>
          <a:xfrm>
            <a:off x="10648684" y="4529138"/>
            <a:ext cx="857229" cy="19050"/>
          </a:xfrm>
          <a:prstGeom prst="rect">
            <a:avLst/>
          </a:prstGeom>
          <a:solidFill>
            <a:srgbClr val="A7B9C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85783" y="4948238"/>
            <a:ext cx="10820129" cy="0"/>
          </a:xfrm>
          <a:prstGeom prst="line">
            <a:avLst/>
          </a:prstGeom>
          <a:solidFill>
            <a:srgbClr val="FFFFFF">
              <a:alpha val="0"/>
            </a:srgbClr>
          </a:solidFill>
          <a:ln w="9525">
            <a:solidFill>
              <a:srgbClr val="CAD4D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85783" y="5757863"/>
            <a:ext cx="10820129" cy="0"/>
          </a:xfrm>
          <a:prstGeom prst="line">
            <a:avLst/>
          </a:prstGeom>
          <a:solidFill>
            <a:srgbClr val="FFFFFF">
              <a:alpha val="0"/>
            </a:srgbClr>
          </a:solidFill>
          <a:ln w="9525">
            <a:solidFill>
              <a:srgbClr val="CAD4D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783" y="5153025"/>
            <a:ext cx="838179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7A0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250" dirty="0"/>
          </a:p>
        </p:txBody>
      </p:sp>
      <p:sp>
        <p:nvSpPr>
          <p:cNvPr id="25" name="Text 23"/>
          <p:cNvSpPr/>
          <p:nvPr/>
        </p:nvSpPr>
        <p:spPr>
          <a:xfrm>
            <a:off x="1523962" y="5181600"/>
            <a:ext cx="294643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0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 성과 요약</a:t>
            </a:r>
            <a:endParaRPr lang="en-US" sz="1900" dirty="0"/>
          </a:p>
        </p:txBody>
      </p:sp>
      <p:sp>
        <p:nvSpPr>
          <p:cNvPr id="26" name="Shape 24"/>
          <p:cNvSpPr/>
          <p:nvPr/>
        </p:nvSpPr>
        <p:spPr>
          <a:xfrm>
            <a:off x="10648684" y="5343525"/>
            <a:ext cx="857229" cy="19050"/>
          </a:xfrm>
          <a:prstGeom prst="rect">
            <a:avLst/>
          </a:prstGeom>
          <a:solidFill>
            <a:srgbClr val="A7B9C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5783" y="6305550"/>
            <a:ext cx="332637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6D7D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장거리 전기 화물 운송의 에너지 예측부터 충전 의사결정까지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13850483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09585" y="457200"/>
            <a:ext cx="153944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59A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비즈니스 문제 정의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09584" y="781050"/>
            <a:ext cx="11267455" cy="4415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112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거리만으로는 장거리 전기 화물차의 에너지 리스크를 설명하기 어렵다</a:t>
            </a:r>
            <a:endParaRPr lang="en-US" sz="2850" dirty="0"/>
          </a:p>
        </p:txBody>
      </p:sp>
      <p:sp>
        <p:nvSpPr>
          <p:cNvPr id="5" name="Shape 3"/>
          <p:cNvSpPr/>
          <p:nvPr/>
        </p:nvSpPr>
        <p:spPr>
          <a:xfrm>
            <a:off x="609585" y="1562100"/>
            <a:ext cx="10972526" cy="19050"/>
          </a:xfrm>
          <a:prstGeom prst="rect">
            <a:avLst/>
          </a:prstGeom>
          <a:solidFill>
            <a:srgbClr val="0B274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09585" y="2000250"/>
            <a:ext cx="5352916" cy="2724150"/>
          </a:xfrm>
          <a:prstGeom prst="rect">
            <a:avLst/>
          </a:prstGeom>
          <a:solidFill>
            <a:srgbClr val="F2F5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33427" y="2305050"/>
            <a:ext cx="470523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12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단순 거리 기준 계획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933427" y="2838450"/>
            <a:ext cx="323842" cy="323850"/>
          </a:xfrm>
          <a:prstGeom prst="ellipse">
            <a:avLst/>
          </a:prstGeom>
          <a:solidFill>
            <a:srgbClr val="D6E0E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09665" y="2838450"/>
            <a:ext cx="3355375" cy="2576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50" dirty="0">
                <a:solidFill>
                  <a:srgbClr val="112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평균 소비량을 전 구간에 동일 적용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933427" y="3352800"/>
            <a:ext cx="323842" cy="323850"/>
          </a:xfrm>
          <a:prstGeom prst="ellipse">
            <a:avLst/>
          </a:prstGeom>
          <a:solidFill>
            <a:srgbClr val="D6E0E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09665" y="3352800"/>
            <a:ext cx="4057548" cy="2576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50" dirty="0">
                <a:solidFill>
                  <a:srgbClr val="112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적재·속도·온도·HVAC 등 변동 요인 미반영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933427" y="3867150"/>
            <a:ext cx="323842" cy="323850"/>
          </a:xfrm>
          <a:prstGeom prst="ellipse">
            <a:avLst/>
          </a:prstGeom>
          <a:solidFill>
            <a:srgbClr val="D6E0E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09664" y="3867150"/>
            <a:ext cx="3944655" cy="2576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50" dirty="0">
                <a:solidFill>
                  <a:srgbClr val="112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예상 SOC와 실제 SOC의 편차 위험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6229194" y="2000250"/>
            <a:ext cx="5352916" cy="2724150"/>
          </a:xfrm>
          <a:prstGeom prst="rect">
            <a:avLst/>
          </a:prstGeom>
          <a:solidFill>
            <a:srgbClr val="0B274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53036" y="2305050"/>
            <a:ext cx="470523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주행조건 기반 계획이 필요한 이유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6553036" y="2838450"/>
            <a:ext cx="323842" cy="323850"/>
          </a:xfrm>
          <a:prstGeom prst="ellipse">
            <a:avLst/>
          </a:prstGeom>
          <a:solidFill>
            <a:srgbClr val="20B8C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29274" y="2838450"/>
            <a:ext cx="4400726" cy="2576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Segment별 주행환경 조건에 따라 소비량 예측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6553036" y="3352800"/>
            <a:ext cx="323842" cy="323850"/>
          </a:xfrm>
          <a:prstGeom prst="ellipse">
            <a:avLst/>
          </a:prstGeom>
          <a:solidFill>
            <a:srgbClr val="20B8C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029274" y="3352800"/>
            <a:ext cx="4055286" cy="2576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충전 가능 지점 전후의 안전 SOC 확보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6553036" y="3867150"/>
            <a:ext cx="323842" cy="323850"/>
          </a:xfrm>
          <a:prstGeom prst="ellipse">
            <a:avLst/>
          </a:prstGeom>
          <a:solidFill>
            <a:srgbClr val="20B8C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29274" y="3867150"/>
            <a:ext cx="4055286" cy="2576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불필요한 충전 횟수와 대기시간 축소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438139" y="5057775"/>
            <a:ext cx="10972526" cy="1143000"/>
          </a:xfrm>
          <a:prstGeom prst="rect">
            <a:avLst/>
          </a:prstGeom>
          <a:solidFill>
            <a:srgbClr val="E9F6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95328" y="5386388"/>
            <a:ext cx="247643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68E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GOAL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895328" y="5538787"/>
            <a:ext cx="2476438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112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예측 → 제약 → 추천</a:t>
            </a:r>
            <a:endParaRPr lang="en-US" sz="1650" dirty="0"/>
          </a:p>
        </p:txBody>
      </p:sp>
      <p:sp>
        <p:nvSpPr>
          <p:cNvPr id="25" name="Text 23"/>
          <p:cNvSpPr/>
          <p:nvPr/>
        </p:nvSpPr>
        <p:spPr>
          <a:xfrm>
            <a:off x="2914577" y="5541961"/>
            <a:ext cx="2095448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12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에너지 소비 예측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5162420" y="5610225"/>
            <a:ext cx="457189" cy="45719"/>
          </a:xfrm>
          <a:prstGeom prst="rect">
            <a:avLst/>
          </a:prstGeom>
          <a:solidFill>
            <a:srgbClr val="6CA7B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791055" y="5538787"/>
            <a:ext cx="2095448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12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안전 SOC 유지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7886503" y="5629275"/>
            <a:ext cx="457189" cy="19050"/>
          </a:xfrm>
          <a:prstGeom prst="rect">
            <a:avLst/>
          </a:prstGeom>
          <a:solidFill>
            <a:srgbClr val="6CA7B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600860" y="5538787"/>
            <a:ext cx="2095448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12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충전 횟수·시간 최소화</a:t>
            </a:r>
            <a:endParaRPr lang="en-US" sz="1350" dirty="0"/>
          </a:p>
        </p:txBody>
      </p:sp>
    </p:spTree>
    <p:extLst>
      <p:ext uri="{BB962C8B-B14F-4D97-AF65-F5344CB8AC3E}">
        <p14:creationId xmlns:p14="http://schemas.microsoft.com/office/powerpoint/2010/main" val="2112676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9585" y="438150"/>
            <a:ext cx="2346975" cy="2047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59A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데이터 탐색 및 해석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09585" y="762000"/>
            <a:ext cx="10667733" cy="434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10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Target과 9개 입력 변수가 Segment별 소비량 예측을 구성한다</a:t>
            </a:r>
            <a:endParaRPr lang="en-US" sz="2850" dirty="0"/>
          </a:p>
        </p:txBody>
      </p:sp>
      <p:sp>
        <p:nvSpPr>
          <p:cNvPr id="5" name="Shape 3"/>
          <p:cNvSpPr/>
          <p:nvPr/>
        </p:nvSpPr>
        <p:spPr>
          <a:xfrm>
            <a:off x="609585" y="1600200"/>
            <a:ext cx="10972526" cy="1066800"/>
          </a:xfrm>
          <a:prstGeom prst="rect">
            <a:avLst/>
          </a:prstGeom>
          <a:solidFill>
            <a:srgbClr val="0B274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3427" y="1952625"/>
            <a:ext cx="161921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69D3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PREDICTION TARGET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552636" y="1981200"/>
            <a:ext cx="460953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energy_consumption_kwhper100km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7162174" y="2009775"/>
            <a:ext cx="171401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C5D6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100km당 에너지 소비량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09585" y="2990850"/>
            <a:ext cx="3555861" cy="28003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09585" y="3014663"/>
            <a:ext cx="3555861" cy="0"/>
          </a:xfrm>
          <a:prstGeom prst="line">
            <a:avLst/>
          </a:prstGeom>
          <a:solidFill>
            <a:srgbClr val="FFFFFF">
              <a:alpha val="0"/>
            </a:srgbClr>
          </a:solidFill>
          <a:ln w="47625">
            <a:solidFill>
              <a:srgbClr val="1BA1B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8179" y="3248025"/>
            <a:ext cx="309867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68E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주행 조건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838179" y="3514725"/>
            <a:ext cx="688164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0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621591" y="3514725"/>
            <a:ext cx="866009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0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distance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582848" y="3514725"/>
            <a:ext cx="1145353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0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driving style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38179" y="3971925"/>
            <a:ext cx="1305934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0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 condition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317842" y="2990850"/>
            <a:ext cx="3555861" cy="28003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317842" y="3014663"/>
            <a:ext cx="3555861" cy="0"/>
          </a:xfrm>
          <a:prstGeom prst="line">
            <a:avLst/>
          </a:prstGeom>
          <a:solidFill>
            <a:srgbClr val="FFFFFF">
              <a:alpha val="0"/>
            </a:srgbClr>
          </a:solidFill>
          <a:ln w="47625">
            <a:solidFill>
              <a:srgbClr val="1BA1B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46437" y="3248025"/>
            <a:ext cx="309867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68E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운송·환경 조건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4546437" y="3514725"/>
            <a:ext cx="560919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0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202604" y="3514725"/>
            <a:ext cx="1128535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0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temperature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26387" y="3514725"/>
            <a:ext cx="668222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0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HVAC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026100" y="2990850"/>
            <a:ext cx="3556010" cy="28003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26100" y="3014663"/>
            <a:ext cx="3556010" cy="0"/>
          </a:xfrm>
          <a:prstGeom prst="line">
            <a:avLst/>
          </a:prstGeom>
          <a:solidFill>
            <a:srgbClr val="FFFFFF">
              <a:alpha val="0"/>
            </a:srgbClr>
          </a:solidFill>
          <a:ln w="47625">
            <a:solidFill>
              <a:srgbClr val="1BA1B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54694" y="3248025"/>
            <a:ext cx="309882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68E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차량 상태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8254694" y="3514725"/>
            <a:ext cx="1162319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0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battery temp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512261" y="3514725"/>
            <a:ext cx="117095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0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tire pressure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09585" y="6134100"/>
            <a:ext cx="76198" cy="323850"/>
          </a:xfrm>
          <a:prstGeom prst="rect">
            <a:avLst/>
          </a:prstGeom>
          <a:solidFill>
            <a:srgbClr val="20B8C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19130" y="6176963"/>
            <a:ext cx="6546870" cy="2809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5669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EDA는 Target 분포, 변수 간 상관관계, 주요 변수와 Target의 관계 패턴을 중심으로 해석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6842664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609585" y="400050"/>
            <a:ext cx="2346975" cy="219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59A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데이터 탐색 및 해석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09585" y="723900"/>
            <a:ext cx="10667733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0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주요 변수와 Target 산점도로 관계 방향을 확인했다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09585" y="1504950"/>
            <a:ext cx="7810305" cy="4343400"/>
          </a:xfrm>
          <a:prstGeom prst="rect">
            <a:avLst/>
          </a:prstGeom>
          <a:solidFill>
            <a:srgbClr val="F1F4F7"/>
          </a:solidFill>
          <a:ln w="9525">
            <a:solidFill>
              <a:srgbClr val="D2DC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3667033" y="3533775"/>
            <a:ext cx="178202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8A9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distribution chart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705632" y="1504950"/>
            <a:ext cx="2876478" cy="4343400"/>
          </a:xfrm>
          <a:prstGeom prst="rect">
            <a:avLst/>
          </a:prstGeom>
          <a:solidFill>
            <a:srgbClr val="0B274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8972326" y="1771650"/>
            <a:ext cx="234309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산점도 해석 포인트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8972326" y="2366963"/>
            <a:ext cx="2343091" cy="0"/>
          </a:xfrm>
          <a:prstGeom prst="line">
            <a:avLst/>
          </a:prstGeom>
          <a:solidFill>
            <a:srgbClr val="FFFFFF">
              <a:alpha val="0"/>
            </a:srgbClr>
          </a:solidFill>
          <a:ln w="9525">
            <a:solidFill>
              <a:srgbClr val="37567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72326" y="2581275"/>
            <a:ext cx="234309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70D6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RANGE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972326" y="2733675"/>
            <a:ext cx="2343091" cy="4970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9개 입력 변수와 Target의 관계를 동일 기준으로 비교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972326" y="3521273"/>
            <a:ext cx="2343091" cy="0"/>
          </a:xfrm>
          <a:prstGeom prst="line">
            <a:avLst/>
          </a:prstGeom>
          <a:solidFill>
            <a:srgbClr val="FFFFFF">
              <a:alpha val="0"/>
            </a:srgbClr>
          </a:solidFill>
          <a:ln w="9525">
            <a:solidFill>
              <a:srgbClr val="37567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972326" y="3735586"/>
            <a:ext cx="234309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70D6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972326" y="3887986"/>
            <a:ext cx="2343091" cy="4970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경사도·적재·속도·HVAC에서 뚜렷한 증가 방향 확인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972326" y="4675584"/>
            <a:ext cx="2343091" cy="0"/>
          </a:xfrm>
          <a:prstGeom prst="line">
            <a:avLst/>
          </a:prstGeom>
          <a:solidFill>
            <a:srgbClr val="FFFFFF">
              <a:alpha val="0"/>
            </a:srgbClr>
          </a:solidFill>
          <a:ln w="9525">
            <a:solidFill>
              <a:srgbClr val="37567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972326" y="4889897"/>
            <a:ext cx="234309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70D6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972326" y="5042297"/>
            <a:ext cx="2343091" cy="4970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상관관계 결과와 결합해 핵심 변수를 모델 입력으로 활용</a:t>
            </a:r>
            <a:endParaRPr lang="en-US" sz="1350" dirty="0"/>
          </a:p>
        </p:txBody>
      </p:sp>
      <p:pic>
        <p:nvPicPr>
          <p:cNvPr id="19" name="Target Distributi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504950"/>
            <a:ext cx="7810500" cy="434340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904981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609585" y="400050"/>
            <a:ext cx="244857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59A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데이터 탐색 및 해석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09585" y="704850"/>
            <a:ext cx="10477238" cy="4045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0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EDA 핵심 결과: 4개 변수가 소비량과 높은 관련성을 보였다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609585" y="1504950"/>
            <a:ext cx="2857429" cy="4095750"/>
          </a:xfrm>
          <a:prstGeom prst="rect">
            <a:avLst/>
          </a:prstGeom>
          <a:solidFill>
            <a:srgbClr val="F3F6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819130" y="1714500"/>
            <a:ext cx="2438339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0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분포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933427" y="4524375"/>
            <a:ext cx="2209745" cy="0"/>
          </a:xfrm>
          <a:prstGeom prst="line">
            <a:avLst/>
          </a:prstGeom>
          <a:solidFill>
            <a:srgbClr val="FFFFFF">
              <a:alpha val="0"/>
            </a:srgbClr>
          </a:solidFill>
          <a:ln w="19050">
            <a:solidFill>
              <a:srgbClr val="AAB9C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42951" y="2247900"/>
            <a:ext cx="0" cy="2286000"/>
          </a:xfrm>
          <a:prstGeom prst="line">
            <a:avLst/>
          </a:prstGeom>
          <a:solidFill>
            <a:srgbClr val="FFFFFF">
              <a:alpha val="0"/>
            </a:srgbClr>
          </a:solidFill>
          <a:ln w="19050">
            <a:solidFill>
              <a:srgbClr val="AAB9C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52516" y="2933700"/>
            <a:ext cx="1428714" cy="819150"/>
          </a:xfrm>
          <a:prstGeom prst="rect">
            <a:avLst/>
          </a:prstGeom>
          <a:solidFill>
            <a:srgbClr val="D8EF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1385853" y="2933700"/>
            <a:ext cx="0" cy="819150"/>
          </a:xfrm>
          <a:prstGeom prst="line">
            <a:avLst/>
          </a:prstGeom>
          <a:solidFill>
            <a:srgbClr val="FFFFFF">
              <a:alpha val="0"/>
            </a:srgbClr>
          </a:solidFill>
          <a:ln w="66675">
            <a:solidFill>
              <a:srgbClr val="1AA4B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19190" y="2933700"/>
            <a:ext cx="1362041" cy="8131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0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중심 구간</a:t>
            </a:r>
            <a:endParaRPr lang="en-US" sz="1150" dirty="0"/>
          </a:p>
          <a:p>
            <a:pPr marL="0" indent="0" algn="l">
              <a:buNone/>
            </a:pPr>
            <a:r>
              <a:rPr lang="en-US" sz="1150" b="1" dirty="0">
                <a:solidFill>
                  <a:srgbClr val="10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꼬리·이상치 확인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933427" y="4743450"/>
            <a:ext cx="2209745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6579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energy_consumption_kwhper100km의 범위와 편중 여부 점검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638459" y="1504950"/>
            <a:ext cx="4095648" cy="4095750"/>
          </a:xfrm>
          <a:prstGeom prst="rect">
            <a:avLst/>
          </a:prstGeom>
          <a:solidFill>
            <a:srgbClr val="F3F6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3848004" y="1714500"/>
            <a:ext cx="367655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0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상관관계 히트맵 요약</a:t>
            </a:r>
            <a:endParaRPr lang="en-US" sz="15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/>
        </p:nvGraphicFramePr>
        <p:xfrm>
          <a:off x="3848004" y="2209800"/>
          <a:ext cx="3676559" cy="2419350"/>
        </p:xfrm>
        <a:graphic>
          <a:graphicData uri="http://schemas.openxmlformats.org/drawingml/2006/table">
            <a:tbl>
              <a:tblPr/>
              <a:tblGrid>
                <a:gridCol w="18286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75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03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387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Feature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38100" cap="flat" cmpd="sng" algn="ctr">
                      <a:solidFill>
                        <a:srgbClr val="F3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3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3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3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7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관련성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38100" cap="flat" cmpd="sng" algn="ctr">
                      <a:solidFill>
                        <a:srgbClr val="F3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3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3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3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7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우선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38100" cap="flat" cmpd="sng" algn="ctr">
                      <a:solidFill>
                        <a:srgbClr val="F3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3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3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3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7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387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023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road_grade_pct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38100" cap="flat" cmpd="sng" algn="ctr">
                      <a:solidFill>
                        <a:srgbClr val="F3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3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3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3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D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높음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38100" cap="flat" cmpd="sng" algn="ctr">
                      <a:solidFill>
                        <a:srgbClr val="F3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3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3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3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A4B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023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핵심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38100" cap="flat" cmpd="sng" algn="ctr">
                      <a:solidFill>
                        <a:srgbClr val="F3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3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3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3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7DC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387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023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load_index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38100" cap="flat" cmpd="sng" algn="ctr">
                      <a:solidFill>
                        <a:srgbClr val="F3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3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3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3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D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높음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38100" cap="flat" cmpd="sng" algn="ctr">
                      <a:solidFill>
                        <a:srgbClr val="F3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3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3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3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A4B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023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핵심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38100" cap="flat" cmpd="sng" algn="ctr">
                      <a:solidFill>
                        <a:srgbClr val="F3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3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3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3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7DC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387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023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speed_kmh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38100" cap="flat" cmpd="sng" algn="ctr">
                      <a:solidFill>
                        <a:srgbClr val="F3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3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3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3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D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높음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38100" cap="flat" cmpd="sng" algn="ctr">
                      <a:solidFill>
                        <a:srgbClr val="F3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3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3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3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A4B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023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핵심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38100" cap="flat" cmpd="sng" algn="ctr">
                      <a:solidFill>
                        <a:srgbClr val="F3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3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3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3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7DC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387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023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hvac_power_kw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38100" cap="flat" cmpd="sng" algn="ctr">
                      <a:solidFill>
                        <a:srgbClr val="F3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3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3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3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D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높음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38100" cap="flat" cmpd="sng" algn="ctr">
                      <a:solidFill>
                        <a:srgbClr val="F3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3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3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3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A4B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023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핵심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38100" cap="flat" cmpd="sng" algn="ctr">
                      <a:solidFill>
                        <a:srgbClr val="F3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3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3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3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7DC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6" name="Shape 13"/>
          <p:cNvSpPr/>
          <p:nvPr/>
        </p:nvSpPr>
        <p:spPr>
          <a:xfrm>
            <a:off x="7905552" y="1504950"/>
            <a:ext cx="3676558" cy="4095750"/>
          </a:xfrm>
          <a:prstGeom prst="rect">
            <a:avLst/>
          </a:prstGeom>
          <a:solidFill>
            <a:srgbClr val="F3F6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/>
          <p:nvPr/>
        </p:nvSpPr>
        <p:spPr>
          <a:xfrm>
            <a:off x="8115097" y="1714500"/>
            <a:ext cx="3257469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0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주요 산점도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8115097" y="2214563"/>
            <a:ext cx="3257469" cy="0"/>
          </a:xfrm>
          <a:prstGeom prst="line">
            <a:avLst/>
          </a:prstGeom>
          <a:solidFill>
            <a:srgbClr val="FFFFFF">
              <a:alpha val="0"/>
            </a:srgbClr>
          </a:solidFill>
          <a:ln w="9525">
            <a:solidFill>
              <a:srgbClr val="CBD7E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115097" y="2428875"/>
            <a:ext cx="100054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0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road_grade_pct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10191495" y="2343150"/>
            <a:ext cx="1181070" cy="3619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8"/>
          <p:cNvSpPr/>
          <p:nvPr/>
        </p:nvSpPr>
        <p:spPr>
          <a:xfrm>
            <a:off x="10191495" y="2700338"/>
            <a:ext cx="1181070" cy="0"/>
          </a:xfrm>
          <a:prstGeom prst="line">
            <a:avLst/>
          </a:prstGeom>
          <a:solidFill>
            <a:srgbClr val="FFFFFF">
              <a:alpha val="0"/>
            </a:srgbClr>
          </a:solidFill>
          <a:ln w="9525">
            <a:solidFill>
              <a:srgbClr val="9DAFBD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10196258" y="2343150"/>
            <a:ext cx="0" cy="361950"/>
          </a:xfrm>
          <a:prstGeom prst="line">
            <a:avLst/>
          </a:prstGeom>
          <a:solidFill>
            <a:srgbClr val="FFFFFF">
              <a:alpha val="0"/>
            </a:srgbClr>
          </a:solidFill>
          <a:ln w="9525">
            <a:solidFill>
              <a:srgbClr val="9DAFBD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10343891" y="2571750"/>
            <a:ext cx="66673" cy="66675"/>
          </a:xfrm>
          <a:prstGeom prst="ellipse">
            <a:avLst/>
          </a:prstGeom>
          <a:solidFill>
            <a:srgbClr val="1AA4B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1"/>
          <p:cNvSpPr/>
          <p:nvPr/>
        </p:nvSpPr>
        <p:spPr>
          <a:xfrm>
            <a:off x="10715357" y="2495550"/>
            <a:ext cx="66673" cy="66675"/>
          </a:xfrm>
          <a:prstGeom prst="ellipse">
            <a:avLst/>
          </a:prstGeom>
          <a:solidFill>
            <a:srgbClr val="1AA4B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2"/>
          <p:cNvSpPr/>
          <p:nvPr/>
        </p:nvSpPr>
        <p:spPr>
          <a:xfrm>
            <a:off x="11163021" y="2400300"/>
            <a:ext cx="66673" cy="66675"/>
          </a:xfrm>
          <a:prstGeom prst="ellipse">
            <a:avLst/>
          </a:prstGeom>
          <a:solidFill>
            <a:srgbClr val="1AA4B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3"/>
          <p:cNvSpPr/>
          <p:nvPr/>
        </p:nvSpPr>
        <p:spPr>
          <a:xfrm>
            <a:off x="8115097" y="2824163"/>
            <a:ext cx="3257469" cy="0"/>
          </a:xfrm>
          <a:prstGeom prst="line">
            <a:avLst/>
          </a:prstGeom>
          <a:solidFill>
            <a:srgbClr val="FFFFFF">
              <a:alpha val="0"/>
            </a:srgbClr>
          </a:solidFill>
          <a:ln w="9525">
            <a:solidFill>
              <a:srgbClr val="CBD7E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8115097" y="3038475"/>
            <a:ext cx="69664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0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load_index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10191495" y="2952750"/>
            <a:ext cx="1181070" cy="3619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6"/>
          <p:cNvSpPr/>
          <p:nvPr/>
        </p:nvSpPr>
        <p:spPr>
          <a:xfrm>
            <a:off x="10191495" y="3309938"/>
            <a:ext cx="1181070" cy="0"/>
          </a:xfrm>
          <a:prstGeom prst="line">
            <a:avLst/>
          </a:prstGeom>
          <a:solidFill>
            <a:srgbClr val="FFFFFF">
              <a:alpha val="0"/>
            </a:srgbClr>
          </a:solidFill>
          <a:ln w="9525">
            <a:solidFill>
              <a:srgbClr val="9DAFBD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10196258" y="2952750"/>
            <a:ext cx="0" cy="361950"/>
          </a:xfrm>
          <a:prstGeom prst="line">
            <a:avLst/>
          </a:prstGeom>
          <a:solidFill>
            <a:srgbClr val="FFFFFF">
              <a:alpha val="0"/>
            </a:srgbClr>
          </a:solidFill>
          <a:ln w="9525">
            <a:solidFill>
              <a:srgbClr val="9DAFBD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10343891" y="3181350"/>
            <a:ext cx="66673" cy="66675"/>
          </a:xfrm>
          <a:prstGeom prst="ellipse">
            <a:avLst/>
          </a:prstGeom>
          <a:solidFill>
            <a:srgbClr val="1AA4B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29"/>
          <p:cNvSpPr/>
          <p:nvPr/>
        </p:nvSpPr>
        <p:spPr>
          <a:xfrm>
            <a:off x="10715357" y="3105150"/>
            <a:ext cx="66673" cy="66675"/>
          </a:xfrm>
          <a:prstGeom prst="ellipse">
            <a:avLst/>
          </a:prstGeom>
          <a:solidFill>
            <a:srgbClr val="1AA4B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30"/>
          <p:cNvSpPr/>
          <p:nvPr/>
        </p:nvSpPr>
        <p:spPr>
          <a:xfrm>
            <a:off x="11163021" y="3009900"/>
            <a:ext cx="66673" cy="66675"/>
          </a:xfrm>
          <a:prstGeom prst="ellipse">
            <a:avLst/>
          </a:prstGeom>
          <a:solidFill>
            <a:srgbClr val="1AA4B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1"/>
          <p:cNvSpPr/>
          <p:nvPr/>
        </p:nvSpPr>
        <p:spPr>
          <a:xfrm>
            <a:off x="8115097" y="3433762"/>
            <a:ext cx="3257469" cy="0"/>
          </a:xfrm>
          <a:prstGeom prst="line">
            <a:avLst/>
          </a:prstGeom>
          <a:solidFill>
            <a:srgbClr val="FFFFFF">
              <a:alpha val="0"/>
            </a:srgbClr>
          </a:solidFill>
          <a:ln w="9525">
            <a:solidFill>
              <a:srgbClr val="CBD7E0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8115097" y="3648075"/>
            <a:ext cx="73385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0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speed_kmh</a:t>
            </a:r>
            <a:endParaRPr lang="en-US" sz="1050" dirty="0"/>
          </a:p>
        </p:txBody>
      </p:sp>
      <p:sp>
        <p:nvSpPr>
          <p:cNvPr id="36" name="Shape 33"/>
          <p:cNvSpPr/>
          <p:nvPr/>
        </p:nvSpPr>
        <p:spPr>
          <a:xfrm>
            <a:off x="10191495" y="3562350"/>
            <a:ext cx="1181070" cy="3619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34"/>
          <p:cNvSpPr/>
          <p:nvPr/>
        </p:nvSpPr>
        <p:spPr>
          <a:xfrm>
            <a:off x="10191495" y="3919537"/>
            <a:ext cx="1181070" cy="0"/>
          </a:xfrm>
          <a:prstGeom prst="line">
            <a:avLst/>
          </a:prstGeom>
          <a:solidFill>
            <a:srgbClr val="FFFFFF">
              <a:alpha val="0"/>
            </a:srgbClr>
          </a:solidFill>
          <a:ln w="9525">
            <a:solidFill>
              <a:srgbClr val="9DAFBD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10196258" y="3562350"/>
            <a:ext cx="0" cy="361950"/>
          </a:xfrm>
          <a:prstGeom prst="line">
            <a:avLst/>
          </a:prstGeom>
          <a:solidFill>
            <a:srgbClr val="FFFFFF">
              <a:alpha val="0"/>
            </a:srgbClr>
          </a:solidFill>
          <a:ln w="9525">
            <a:solidFill>
              <a:srgbClr val="9DAFBD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10343891" y="3790950"/>
            <a:ext cx="66673" cy="66675"/>
          </a:xfrm>
          <a:prstGeom prst="ellipse">
            <a:avLst/>
          </a:prstGeom>
          <a:solidFill>
            <a:srgbClr val="1AA4B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37"/>
          <p:cNvSpPr/>
          <p:nvPr/>
        </p:nvSpPr>
        <p:spPr>
          <a:xfrm>
            <a:off x="10715357" y="3714750"/>
            <a:ext cx="66673" cy="66675"/>
          </a:xfrm>
          <a:prstGeom prst="ellipse">
            <a:avLst/>
          </a:prstGeom>
          <a:solidFill>
            <a:srgbClr val="1AA4B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38"/>
          <p:cNvSpPr/>
          <p:nvPr/>
        </p:nvSpPr>
        <p:spPr>
          <a:xfrm>
            <a:off x="11163021" y="3619500"/>
            <a:ext cx="66673" cy="66675"/>
          </a:xfrm>
          <a:prstGeom prst="ellipse">
            <a:avLst/>
          </a:prstGeom>
          <a:solidFill>
            <a:srgbClr val="1AA4B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Shape 39"/>
          <p:cNvSpPr/>
          <p:nvPr/>
        </p:nvSpPr>
        <p:spPr>
          <a:xfrm>
            <a:off x="8115097" y="4043363"/>
            <a:ext cx="3257469" cy="0"/>
          </a:xfrm>
          <a:prstGeom prst="line">
            <a:avLst/>
          </a:prstGeom>
          <a:solidFill>
            <a:srgbClr val="FFFFFF">
              <a:alpha val="0"/>
            </a:srgbClr>
          </a:solidFill>
          <a:ln w="9525">
            <a:solidFill>
              <a:srgbClr val="CBD7E0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8115097" y="4643438"/>
            <a:ext cx="3257469" cy="0"/>
          </a:xfrm>
          <a:prstGeom prst="line">
            <a:avLst/>
          </a:prstGeom>
          <a:solidFill>
            <a:srgbClr val="FFFFFF">
              <a:alpha val="0"/>
            </a:srgbClr>
          </a:solidFill>
          <a:ln w="9525">
            <a:solidFill>
              <a:srgbClr val="CBD7E0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8115097" y="4257675"/>
            <a:ext cx="102287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0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hvac_power_kw</a:t>
            </a:r>
            <a:endParaRPr lang="en-US" sz="1050" dirty="0"/>
          </a:p>
        </p:txBody>
      </p:sp>
      <p:sp>
        <p:nvSpPr>
          <p:cNvPr id="45" name="Shape 42"/>
          <p:cNvSpPr/>
          <p:nvPr/>
        </p:nvSpPr>
        <p:spPr>
          <a:xfrm>
            <a:off x="10191495" y="4171950"/>
            <a:ext cx="1181070" cy="3619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Shape 43"/>
          <p:cNvSpPr/>
          <p:nvPr/>
        </p:nvSpPr>
        <p:spPr>
          <a:xfrm>
            <a:off x="10191495" y="4529138"/>
            <a:ext cx="1181070" cy="0"/>
          </a:xfrm>
          <a:prstGeom prst="line">
            <a:avLst/>
          </a:prstGeom>
          <a:solidFill>
            <a:srgbClr val="FFFFFF">
              <a:alpha val="0"/>
            </a:srgbClr>
          </a:solidFill>
          <a:ln w="9525">
            <a:solidFill>
              <a:srgbClr val="9DAFBD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10196258" y="4171950"/>
            <a:ext cx="0" cy="361950"/>
          </a:xfrm>
          <a:prstGeom prst="line">
            <a:avLst/>
          </a:prstGeom>
          <a:solidFill>
            <a:srgbClr val="FFFFFF">
              <a:alpha val="0"/>
            </a:srgbClr>
          </a:solidFill>
          <a:ln w="9525">
            <a:solidFill>
              <a:srgbClr val="9DAFBD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10343891" y="4400550"/>
            <a:ext cx="66673" cy="66675"/>
          </a:xfrm>
          <a:prstGeom prst="ellipse">
            <a:avLst/>
          </a:prstGeom>
          <a:solidFill>
            <a:srgbClr val="1AA4B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Shape 46"/>
          <p:cNvSpPr/>
          <p:nvPr/>
        </p:nvSpPr>
        <p:spPr>
          <a:xfrm>
            <a:off x="10715357" y="4324350"/>
            <a:ext cx="66673" cy="66675"/>
          </a:xfrm>
          <a:prstGeom prst="ellipse">
            <a:avLst/>
          </a:prstGeom>
          <a:solidFill>
            <a:srgbClr val="1AA4B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Shape 47"/>
          <p:cNvSpPr/>
          <p:nvPr/>
        </p:nvSpPr>
        <p:spPr>
          <a:xfrm>
            <a:off x="11163021" y="4229100"/>
            <a:ext cx="66673" cy="66675"/>
          </a:xfrm>
          <a:prstGeom prst="ellipse">
            <a:avLst/>
          </a:prstGeom>
          <a:solidFill>
            <a:srgbClr val="1AA4B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Shape 48"/>
          <p:cNvSpPr/>
          <p:nvPr/>
        </p:nvSpPr>
        <p:spPr>
          <a:xfrm>
            <a:off x="609585" y="5905500"/>
            <a:ext cx="10972526" cy="552450"/>
          </a:xfrm>
          <a:prstGeom prst="rect">
            <a:avLst/>
          </a:prstGeom>
          <a:solidFill>
            <a:srgbClr val="0B274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Text 49"/>
          <p:cNvSpPr/>
          <p:nvPr/>
        </p:nvSpPr>
        <p:spPr>
          <a:xfrm>
            <a:off x="1629477" y="6153149"/>
            <a:ext cx="610462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단일 변수보다 복합적인 주행환경 조건을 함께 반영하는 비선형 회귀 모델이 필요</a:t>
            </a:r>
            <a:endParaRPr lang="en-US" sz="1200" dirty="0"/>
          </a:p>
        </p:txBody>
      </p:sp>
      <p:pic>
        <p:nvPicPr>
          <p:cNvPr id="53" name="Correlation Heatmap"/>
          <p:cNvPicPr/>
          <p:nvPr/>
        </p:nvPicPr>
        <p:blipFill>
          <a:blip r:embed="rId3"/>
          <a:stretch>
            <a:fillRect/>
          </a:stretch>
        </p:blipFill>
        <p:spPr>
          <a:xfrm>
            <a:off x="609600" y="1524000"/>
            <a:ext cx="4953000" cy="4095750"/>
          </a:xfrm>
          <a:prstGeom prst="rect">
            <a:avLst/>
          </a:prstGeom>
          <a:ln>
            <a:noFill/>
          </a:ln>
        </p:spPr>
      </p:pic>
      <p:pic>
        <p:nvPicPr>
          <p:cNvPr id="54" name="Feature vs Target"/>
          <p:cNvPicPr/>
          <p:nvPr/>
        </p:nvPicPr>
        <p:blipFill>
          <a:blip r:embed="rId4"/>
          <a:stretch>
            <a:fillRect/>
          </a:stretch>
        </p:blipFill>
        <p:spPr>
          <a:xfrm>
            <a:off x="5715000" y="1524000"/>
            <a:ext cx="5867400" cy="409575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611757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9585" y="419100"/>
            <a:ext cx="2381190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59A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모델 설계 및 성능 평가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09585" y="742950"/>
            <a:ext cx="10667733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0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세 회귀 모델을 비교하고 XGBoost Regressor를 최종 선택했다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09585" y="1504950"/>
            <a:ext cx="10972526" cy="914400"/>
          </a:xfrm>
          <a:prstGeom prst="rect">
            <a:avLst/>
          </a:prstGeom>
          <a:solidFill>
            <a:srgbClr val="0B274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9585" y="1743075"/>
            <a:ext cx="238119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회귀 문제 정의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09585" y="1990725"/>
            <a:ext cx="238119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BFD0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연속형 소비량 예측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990775" y="1952625"/>
            <a:ext cx="476238" cy="19050"/>
          </a:xfrm>
          <a:prstGeom prst="rect">
            <a:avLst/>
          </a:prstGeom>
          <a:solidFill>
            <a:srgbClr val="55BCC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67013" y="1743075"/>
            <a:ext cx="238119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모델 비교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467013" y="1990725"/>
            <a:ext cx="238119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BFD0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선형 · 앙상블 · 부스팅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848204" y="1952625"/>
            <a:ext cx="476238" cy="19050"/>
          </a:xfrm>
          <a:prstGeom prst="rect">
            <a:avLst/>
          </a:prstGeom>
          <a:solidFill>
            <a:srgbClr val="55BCC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24442" y="1762125"/>
            <a:ext cx="238119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하이퍼파라미터 튜닝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324442" y="2009775"/>
            <a:ext cx="238119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BFD0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GridSearchCV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705632" y="1952625"/>
            <a:ext cx="476238" cy="19050"/>
          </a:xfrm>
          <a:prstGeom prst="rect">
            <a:avLst/>
          </a:prstGeom>
          <a:solidFill>
            <a:srgbClr val="55BCC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81870" y="1762125"/>
            <a:ext cx="238119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평가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9181870" y="2009775"/>
            <a:ext cx="238119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BFD0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R² · MAE · RMSE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09585" y="2743200"/>
            <a:ext cx="3543211" cy="2400300"/>
          </a:xfrm>
          <a:prstGeom prst="rect">
            <a:avLst/>
          </a:prstGeom>
          <a:solidFill>
            <a:srgbClr val="FFFFFF"/>
          </a:solidFill>
          <a:ln w="9525">
            <a:solidFill>
              <a:srgbClr val="D3DDE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7704" y="2981325"/>
            <a:ext cx="3066973" cy="2475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50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47704" y="3228826"/>
            <a:ext cx="306697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10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 Regression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847704" y="3476476"/>
            <a:ext cx="3066973" cy="2475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50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해석이 쉬운 선형 기준 모델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324242" y="2743200"/>
            <a:ext cx="3543211" cy="2400300"/>
          </a:xfrm>
          <a:prstGeom prst="rect">
            <a:avLst/>
          </a:prstGeom>
          <a:solidFill>
            <a:srgbClr val="FFFFFF"/>
          </a:solidFill>
          <a:ln w="9525">
            <a:solidFill>
              <a:srgbClr val="D3DD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62361" y="2981325"/>
            <a:ext cx="3066973" cy="2475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50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ENSEMBLE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62361" y="3228826"/>
            <a:ext cx="306697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10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Forest Regressor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4562361" y="3476476"/>
            <a:ext cx="3066973" cy="495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50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트리 앙상블로 비선형 관계와 변수 상호작용 반영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038899" y="2743200"/>
            <a:ext cx="3543211" cy="2400300"/>
          </a:xfrm>
          <a:prstGeom prst="rect">
            <a:avLst/>
          </a:prstGeom>
          <a:solidFill>
            <a:srgbClr val="FFFFFF"/>
          </a:solidFill>
          <a:ln w="28575">
            <a:solidFill>
              <a:srgbClr val="1AA4B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6068" y="3000375"/>
            <a:ext cx="3028874" cy="2475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50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MODEL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296068" y="3247876"/>
            <a:ext cx="3028874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10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XGBoost Regressor</a:t>
            </a:r>
            <a:endParaRPr lang="en-US" sz="1650" dirty="0"/>
          </a:p>
        </p:txBody>
      </p:sp>
      <p:sp>
        <p:nvSpPr>
          <p:cNvPr id="28" name="Text 26"/>
          <p:cNvSpPr/>
          <p:nvPr/>
        </p:nvSpPr>
        <p:spPr>
          <a:xfrm>
            <a:off x="8296068" y="3495526"/>
            <a:ext cx="3028874" cy="495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50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부스팅 기반 오차 보정으로 복합 주행조건 패턴 학습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09585" y="5467350"/>
            <a:ext cx="10972526" cy="819150"/>
          </a:xfrm>
          <a:prstGeom prst="rect">
            <a:avLst/>
          </a:prstGeom>
          <a:solidFill>
            <a:srgbClr val="E8F5F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76278" y="5767387"/>
            <a:ext cx="180970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37D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GridSearchCV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2685983" y="5757863"/>
            <a:ext cx="4639377" cy="2285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10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모델명이 아닌 튜닝 방법 — 후보 조합을 교차검증으로 탐색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31542146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0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609585" y="438150"/>
            <a:ext cx="2286015" cy="244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70D6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모델 설계 및 성능 평가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09585" y="800100"/>
            <a:ext cx="10286743" cy="449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최종 모델은 Test 데이터 변동의 94.38%를 설명한다</a:t>
            </a:r>
            <a:endParaRPr lang="en-US" sz="2950" dirty="0"/>
          </a:p>
        </p:txBody>
      </p:sp>
      <p:sp>
        <p:nvSpPr>
          <p:cNvPr id="5" name="Shape 3"/>
          <p:cNvSpPr/>
          <p:nvPr/>
        </p:nvSpPr>
        <p:spPr>
          <a:xfrm>
            <a:off x="609585" y="1847850"/>
            <a:ext cx="3543211" cy="2362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609585" y="1881187"/>
            <a:ext cx="3543211" cy="0"/>
          </a:xfrm>
          <a:prstGeom prst="line">
            <a:avLst/>
          </a:prstGeom>
          <a:solidFill>
            <a:srgbClr val="FFFFFF">
              <a:alpha val="0"/>
            </a:srgbClr>
          </a:solidFill>
          <a:ln w="66675">
            <a:solidFill>
              <a:srgbClr val="20B8C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5328" y="2200275"/>
            <a:ext cx="2971726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5570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R²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95328" y="2419350"/>
            <a:ext cx="2971726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350" b="1" dirty="0">
                <a:solidFill>
                  <a:srgbClr val="0B2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0.9438</a:t>
            </a:r>
            <a:endParaRPr lang="en-US" sz="4350" dirty="0"/>
          </a:p>
        </p:txBody>
      </p:sp>
      <p:sp>
        <p:nvSpPr>
          <p:cNvPr id="9" name="Text 7"/>
          <p:cNvSpPr/>
          <p:nvPr/>
        </p:nvSpPr>
        <p:spPr>
          <a:xfrm>
            <a:off x="895328" y="3200400"/>
            <a:ext cx="297172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6578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데이터 기준 설명력 지표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24242" y="1847850"/>
            <a:ext cx="3543211" cy="2362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4324242" y="1881187"/>
            <a:ext cx="3543211" cy="0"/>
          </a:xfrm>
          <a:prstGeom prst="line">
            <a:avLst/>
          </a:prstGeom>
          <a:solidFill>
            <a:srgbClr val="FFFFFF">
              <a:alpha val="0"/>
            </a:srgbClr>
          </a:solidFill>
          <a:ln w="66675">
            <a:solidFill>
              <a:srgbClr val="20B8C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09985" y="2200275"/>
            <a:ext cx="2971726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5570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609985" y="2419350"/>
            <a:ext cx="2971726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350" b="1" dirty="0">
                <a:solidFill>
                  <a:srgbClr val="0B2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0.6917</a:t>
            </a:r>
            <a:endParaRPr lang="en-US" sz="4350" dirty="0"/>
          </a:p>
        </p:txBody>
      </p:sp>
      <p:sp>
        <p:nvSpPr>
          <p:cNvPr id="14" name="Text 12"/>
          <p:cNvSpPr/>
          <p:nvPr/>
        </p:nvSpPr>
        <p:spPr>
          <a:xfrm>
            <a:off x="4609985" y="3200400"/>
            <a:ext cx="297172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6578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평균 절대 오차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038899" y="1847850"/>
            <a:ext cx="3543211" cy="2362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8038899" y="1881187"/>
            <a:ext cx="3543211" cy="0"/>
          </a:xfrm>
          <a:prstGeom prst="line">
            <a:avLst/>
          </a:prstGeom>
          <a:solidFill>
            <a:srgbClr val="FFFFFF">
              <a:alpha val="0"/>
            </a:srgbClr>
          </a:solidFill>
          <a:ln w="66675">
            <a:solidFill>
              <a:srgbClr val="20B8C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24642" y="2200275"/>
            <a:ext cx="2971726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5570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RMSE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324642" y="2419350"/>
            <a:ext cx="2971726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350" b="1" dirty="0">
                <a:solidFill>
                  <a:srgbClr val="0B2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0.8713</a:t>
            </a:r>
            <a:endParaRPr lang="en-US" sz="4350" dirty="0"/>
          </a:p>
        </p:txBody>
      </p:sp>
      <p:sp>
        <p:nvSpPr>
          <p:cNvPr id="19" name="Text 17"/>
          <p:cNvSpPr/>
          <p:nvPr/>
        </p:nvSpPr>
        <p:spPr>
          <a:xfrm>
            <a:off x="8324642" y="3200400"/>
            <a:ext cx="297172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6578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제곱근 평균 오차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09585" y="4591050"/>
            <a:ext cx="10972526" cy="135255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36557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904852" y="4986338"/>
            <a:ext cx="246438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70D6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INTERPRETATION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04852" y="5186363"/>
            <a:ext cx="2464383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설명력 + 오차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3369236" y="4868763"/>
            <a:ext cx="7917607" cy="796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D8E4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R²는 정확도가 아니다.</a:t>
            </a:r>
            <a:endParaRPr lang="en-US" sz="1350" dirty="0"/>
          </a:p>
          <a:p>
            <a:pPr marL="0" indent="0" algn="l">
              <a:buNone/>
            </a:pPr>
            <a:r>
              <a:rPr lang="en-US" sz="1350" dirty="0">
                <a:solidFill>
                  <a:srgbClr val="D8E4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데이터에서 소비량 변동을 모델이 얼마나 설명하는지 나타내며, MAE·RMSE와 함께 실제 예측 오차를 판단한다.</a:t>
            </a:r>
            <a:endParaRPr lang="en-US" sz="1350" dirty="0"/>
          </a:p>
        </p:txBody>
      </p:sp>
    </p:spTree>
    <p:extLst>
      <p:ext uri="{BB962C8B-B14F-4D97-AF65-F5344CB8AC3E}">
        <p14:creationId xmlns:p14="http://schemas.microsoft.com/office/powerpoint/2010/main" val="27039030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9585" y="400050"/>
            <a:ext cx="2529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59A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의사결정 제안 및 활용 계획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09585" y="723900"/>
            <a:ext cx="10667733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0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434.77km 경로를 44개 Segment로 나눠 SOC 변화를 계산한다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09585" y="1524000"/>
            <a:ext cx="10972526" cy="1562100"/>
          </a:xfrm>
          <a:prstGeom prst="rect">
            <a:avLst/>
          </a:prstGeom>
          <a:solidFill>
            <a:srgbClr val="0B274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99374" y="2047875"/>
            <a:ext cx="1828823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부산신항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1505582" y="2438400"/>
            <a:ext cx="81779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ABC0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출발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545381" y="1981200"/>
            <a:ext cx="279861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인천국제공항 화물터미널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8420931" y="2438400"/>
            <a:ext cx="231064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50" dirty="0">
                <a:solidFill>
                  <a:srgbClr val="ABC0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도착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419290" y="2495550"/>
            <a:ext cx="7353116" cy="38100"/>
          </a:xfrm>
          <a:prstGeom prst="rect">
            <a:avLst/>
          </a:prstGeom>
          <a:solidFill>
            <a:srgbClr val="617D9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86223" y="2305050"/>
            <a:ext cx="2456942" cy="428625"/>
          </a:xfrm>
          <a:prstGeom prst="rect">
            <a:avLst/>
          </a:prstGeom>
          <a:solidFill>
            <a:srgbClr val="20B8C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9585" y="3352800"/>
            <a:ext cx="3555861" cy="1066800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7704" y="3543300"/>
            <a:ext cx="307962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68E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DISTANCE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47704" y="3686175"/>
            <a:ext cx="3079623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0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434.77km</a:t>
            </a:r>
            <a:endParaRPr lang="en-US" sz="2250" dirty="0"/>
          </a:p>
        </p:txBody>
      </p:sp>
      <p:sp>
        <p:nvSpPr>
          <p:cNvPr id="15" name="Shape 13"/>
          <p:cNvSpPr/>
          <p:nvPr/>
        </p:nvSpPr>
        <p:spPr>
          <a:xfrm>
            <a:off x="4317842" y="3352800"/>
            <a:ext cx="3555861" cy="1066800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55961" y="3543300"/>
            <a:ext cx="307962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68E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VOLVO FH ELECTRIC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55961" y="3686175"/>
            <a:ext cx="3079623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0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110kWh / 100km</a:t>
            </a:r>
            <a:endParaRPr lang="en-US" sz="2250" dirty="0"/>
          </a:p>
        </p:txBody>
      </p:sp>
      <p:sp>
        <p:nvSpPr>
          <p:cNvPr id="18" name="Shape 16"/>
          <p:cNvSpPr/>
          <p:nvPr/>
        </p:nvSpPr>
        <p:spPr>
          <a:xfrm>
            <a:off x="8026100" y="3352800"/>
            <a:ext cx="3556010" cy="1066800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64219" y="3543300"/>
            <a:ext cx="307977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68E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BATTERY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264219" y="3686175"/>
            <a:ext cx="307977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0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460kWh</a:t>
            </a:r>
            <a:endParaRPr lang="en-US" sz="2250" dirty="0"/>
          </a:p>
        </p:txBody>
      </p:sp>
      <p:sp>
        <p:nvSpPr>
          <p:cNvPr id="21" name="Shape 19"/>
          <p:cNvSpPr/>
          <p:nvPr/>
        </p:nvSpPr>
        <p:spPr>
          <a:xfrm>
            <a:off x="1514437" y="5010150"/>
            <a:ext cx="400040" cy="400050"/>
          </a:xfrm>
          <a:prstGeom prst="ellipse">
            <a:avLst/>
          </a:prstGeom>
          <a:solidFill>
            <a:srgbClr val="0B274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9605" y="5524500"/>
            <a:ext cx="18097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주행조건 구성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619310" y="5372100"/>
            <a:ext cx="380990" cy="19050"/>
          </a:xfrm>
          <a:prstGeom prst="rect">
            <a:avLst/>
          </a:prstGeom>
          <a:solidFill>
            <a:srgbClr val="81A4B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705132" y="5010150"/>
            <a:ext cx="400040" cy="400050"/>
          </a:xfrm>
          <a:prstGeom prst="ellipse">
            <a:avLst/>
          </a:prstGeom>
          <a:solidFill>
            <a:srgbClr val="0B274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000300" y="5524500"/>
            <a:ext cx="18097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소비량 예측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810005" y="5372100"/>
            <a:ext cx="380990" cy="19050"/>
          </a:xfrm>
          <a:prstGeom prst="rect">
            <a:avLst/>
          </a:prstGeom>
          <a:solidFill>
            <a:srgbClr val="81A4B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895828" y="5010150"/>
            <a:ext cx="400040" cy="400050"/>
          </a:xfrm>
          <a:prstGeom prst="ellipse">
            <a:avLst/>
          </a:prstGeom>
          <a:solidFill>
            <a:srgbClr val="0B274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190995" y="5524500"/>
            <a:ext cx="18097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상대 보정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000700" y="5372100"/>
            <a:ext cx="380990" cy="19050"/>
          </a:xfrm>
          <a:prstGeom prst="rect">
            <a:avLst/>
          </a:prstGeom>
          <a:solidFill>
            <a:srgbClr val="81A4B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086523" y="5010150"/>
            <a:ext cx="400040" cy="400050"/>
          </a:xfrm>
          <a:prstGeom prst="ellipse">
            <a:avLst/>
          </a:prstGeom>
          <a:solidFill>
            <a:srgbClr val="0B274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81690" y="5524500"/>
            <a:ext cx="18097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 계산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9191395" y="5372100"/>
            <a:ext cx="380990" cy="19050"/>
          </a:xfrm>
          <a:prstGeom prst="rect">
            <a:avLst/>
          </a:prstGeom>
          <a:solidFill>
            <a:srgbClr val="81A4B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277218" y="5010150"/>
            <a:ext cx="400040" cy="400050"/>
          </a:xfrm>
          <a:prstGeom prst="ellipse">
            <a:avLst/>
          </a:prstGeom>
          <a:solidFill>
            <a:srgbClr val="0B274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572386" y="5524500"/>
            <a:ext cx="18097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휴게소 연결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3160922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609585" y="400051"/>
            <a:ext cx="2306335" cy="199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59A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의사결정 제안 및 활용 계획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09585" y="723900"/>
            <a:ext cx="10667733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0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Streamlit에서 입력부터 추천 결과까지 확인한다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09585" y="1504950"/>
            <a:ext cx="8096048" cy="4343400"/>
          </a:xfrm>
          <a:prstGeom prst="rect">
            <a:avLst/>
          </a:prstGeom>
          <a:solidFill>
            <a:srgbClr val="E9EEF3"/>
          </a:solidFill>
          <a:ln w="9525">
            <a:solidFill>
              <a:srgbClr val="CDD8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3762281" y="3609975"/>
            <a:ext cx="244890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84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Streamlit implementation screen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991375" y="1504950"/>
            <a:ext cx="2590735" cy="4343400"/>
          </a:xfrm>
          <a:prstGeom prst="rect">
            <a:avLst/>
          </a:prstGeom>
          <a:solidFill>
            <a:srgbClr val="0B274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9239019" y="1752600"/>
            <a:ext cx="2095448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사용자 흐름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9239019" y="2300288"/>
            <a:ext cx="2095448" cy="0"/>
          </a:xfrm>
          <a:prstGeom prst="line">
            <a:avLst/>
          </a:prstGeom>
          <a:solidFill>
            <a:srgbClr val="FFFFFF">
              <a:alpha val="0"/>
            </a:srgbClr>
          </a:solidFill>
          <a:ln w="9525">
            <a:solidFill>
              <a:srgbClr val="37567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239019" y="2476500"/>
            <a:ext cx="209544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70D6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9239019" y="2628900"/>
            <a:ext cx="2095448" cy="4685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출발 SOC · 적재 수준 · HVAC · 출발 시점 입력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239019" y="3349823"/>
            <a:ext cx="2095448" cy="0"/>
          </a:xfrm>
          <a:prstGeom prst="line">
            <a:avLst/>
          </a:prstGeom>
          <a:solidFill>
            <a:srgbClr val="FFFFFF">
              <a:alpha val="0"/>
            </a:srgbClr>
          </a:solidFill>
          <a:ln w="9525">
            <a:solidFill>
              <a:srgbClr val="37567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239019" y="3526036"/>
            <a:ext cx="209544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70D6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CALCULATE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9239019" y="3678436"/>
            <a:ext cx="2095448" cy="4685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Segment별 소비량과 SOC 변화 계산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9239019" y="4399359"/>
            <a:ext cx="2095448" cy="0"/>
          </a:xfrm>
          <a:prstGeom prst="line">
            <a:avLst/>
          </a:prstGeom>
          <a:solidFill>
            <a:srgbClr val="FFFFFF">
              <a:alpha val="0"/>
            </a:srgbClr>
          </a:solidFill>
          <a:ln w="9525">
            <a:solidFill>
              <a:srgbClr val="37567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239019" y="4575572"/>
            <a:ext cx="209544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70D6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9239019" y="4727972"/>
            <a:ext cx="2095448" cy="4685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안전 SOC 기반 충전안 제시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9239019" y="5095875"/>
            <a:ext cx="2095448" cy="514350"/>
          </a:xfrm>
          <a:prstGeom prst="rect">
            <a:avLst/>
          </a:prstGeom>
          <a:solidFill>
            <a:srgbClr val="159A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9381890" y="5238750"/>
            <a:ext cx="18097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고정 경로 거리 434.77km</a:t>
            </a:r>
            <a:endParaRPr lang="en-US" sz="1200" dirty="0"/>
          </a:p>
        </p:txBody>
      </p:sp>
      <p:pic>
        <p:nvPicPr>
          <p:cNvPr id="21" name="Streamlit Screen"/>
          <p:cNvPicPr/>
          <p:nvPr/>
        </p:nvPicPr>
        <p:blipFill>
          <a:blip r:embed="rId3"/>
          <a:stretch>
            <a:fillRect/>
          </a:stretch>
        </p:blipFill>
        <p:spPr>
          <a:xfrm>
            <a:off x="609600" y="1504950"/>
            <a:ext cx="8096250" cy="434340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490023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609584" y="400050"/>
            <a:ext cx="1767855" cy="1857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59A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프로젝트 성과 요약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09585" y="723900"/>
            <a:ext cx="10667733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10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예측 모델에서 충전 추천까지 End-to-End 시스템을 완성했다</a:t>
            </a:r>
            <a:endParaRPr lang="en-US" sz="2850" dirty="0"/>
          </a:p>
        </p:txBody>
      </p:sp>
      <p:sp>
        <p:nvSpPr>
          <p:cNvPr id="5" name="Shape 3"/>
          <p:cNvSpPr/>
          <p:nvPr/>
        </p:nvSpPr>
        <p:spPr>
          <a:xfrm>
            <a:off x="609585" y="1562100"/>
            <a:ext cx="3555861" cy="1676400"/>
          </a:xfrm>
          <a:prstGeom prst="rect">
            <a:avLst/>
          </a:prstGeom>
          <a:solidFill>
            <a:srgbClr val="0B274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857229" y="1800225"/>
            <a:ext cx="306057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6E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PREDICT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57229" y="1952625"/>
            <a:ext cx="3060574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XGBoost Regressor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857229" y="2200275"/>
            <a:ext cx="3060574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BCD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주행조건 기반 에너지 소비량 예측 모델 구축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17842" y="1562100"/>
            <a:ext cx="3555861" cy="1676400"/>
          </a:xfrm>
          <a:prstGeom prst="rect">
            <a:avLst/>
          </a:prstGeom>
          <a:solidFill>
            <a:srgbClr val="0B274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4565486" y="1800225"/>
            <a:ext cx="306057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6E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TUNE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65486" y="1952625"/>
            <a:ext cx="3060574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GridSearchCV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4565486" y="2200275"/>
            <a:ext cx="3060574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BCD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교차검증 기반 하이퍼파라미터 탐색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026100" y="1562100"/>
            <a:ext cx="3556010" cy="1676400"/>
          </a:xfrm>
          <a:prstGeom prst="rect">
            <a:avLst/>
          </a:prstGeom>
          <a:solidFill>
            <a:srgbClr val="0B274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8273744" y="1800225"/>
            <a:ext cx="306072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6E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DELIVER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273744" y="1952625"/>
            <a:ext cx="3060723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Streamlit 시스템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8273744" y="2257425"/>
            <a:ext cx="3060723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BCD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입력·SOC 시뮬레이션·충전 추천 구현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09585" y="3581400"/>
            <a:ext cx="10972526" cy="2019300"/>
          </a:xfrm>
          <a:prstGeom prst="rect">
            <a:avLst/>
          </a:prstGeom>
          <a:solidFill>
            <a:srgbClr val="F0F4F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857229" y="3810000"/>
            <a:ext cx="1047723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0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기본 시뮬레이션 결과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857229" y="4314825"/>
            <a:ext cx="2003921" cy="86677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857229" y="4333875"/>
            <a:ext cx="2003921" cy="0"/>
          </a:xfrm>
          <a:prstGeom prst="line">
            <a:avLst/>
          </a:prstGeom>
          <a:solidFill>
            <a:srgbClr val="FFFFFF">
              <a:alpha val="0"/>
            </a:srgbClr>
          </a:solidFill>
          <a:ln w="38100">
            <a:solidFill>
              <a:srgbClr val="1AA4B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71526" y="4524375"/>
            <a:ext cx="177532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479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총 거리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971526" y="4686300"/>
            <a:ext cx="1775326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50" b="1" dirty="0">
                <a:solidFill>
                  <a:srgbClr val="10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434.77km</a:t>
            </a:r>
            <a:endParaRPr lang="en-US" sz="1750" dirty="0"/>
          </a:p>
        </p:txBody>
      </p:sp>
      <p:sp>
        <p:nvSpPr>
          <p:cNvPr id="23" name="Shape 21"/>
          <p:cNvSpPr/>
          <p:nvPr/>
        </p:nvSpPr>
        <p:spPr>
          <a:xfrm>
            <a:off x="2975446" y="4314825"/>
            <a:ext cx="2004069" cy="86677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2975446" y="4333875"/>
            <a:ext cx="2004069" cy="0"/>
          </a:xfrm>
          <a:prstGeom prst="line">
            <a:avLst/>
          </a:prstGeom>
          <a:solidFill>
            <a:srgbClr val="FFFFFF">
              <a:alpha val="0"/>
            </a:srgbClr>
          </a:solidFill>
          <a:ln w="38100">
            <a:solidFill>
              <a:srgbClr val="1AA4B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089743" y="4524375"/>
            <a:ext cx="177547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479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089743" y="4657725"/>
            <a:ext cx="1775475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50" b="1" dirty="0">
                <a:solidFill>
                  <a:srgbClr val="10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44개</a:t>
            </a:r>
            <a:endParaRPr lang="en-US" sz="1750" dirty="0"/>
          </a:p>
        </p:txBody>
      </p:sp>
      <p:sp>
        <p:nvSpPr>
          <p:cNvPr id="27" name="Shape 25"/>
          <p:cNvSpPr/>
          <p:nvPr/>
        </p:nvSpPr>
        <p:spPr>
          <a:xfrm>
            <a:off x="5093813" y="4314825"/>
            <a:ext cx="2003921" cy="86677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5093813" y="4333875"/>
            <a:ext cx="2003921" cy="0"/>
          </a:xfrm>
          <a:prstGeom prst="line">
            <a:avLst/>
          </a:prstGeom>
          <a:solidFill>
            <a:srgbClr val="FFFFFF">
              <a:alpha val="0"/>
            </a:srgbClr>
          </a:solidFill>
          <a:ln w="38100">
            <a:solidFill>
              <a:srgbClr val="1AA4B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208110" y="4524375"/>
            <a:ext cx="177532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479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총 소비전력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208110" y="4686300"/>
            <a:ext cx="177532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50" b="1" dirty="0">
                <a:solidFill>
                  <a:srgbClr val="10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약 458.46kWh</a:t>
            </a:r>
            <a:endParaRPr lang="en-US" sz="1750" dirty="0"/>
          </a:p>
        </p:txBody>
      </p:sp>
      <p:sp>
        <p:nvSpPr>
          <p:cNvPr id="31" name="Shape 29"/>
          <p:cNvSpPr/>
          <p:nvPr/>
        </p:nvSpPr>
        <p:spPr>
          <a:xfrm>
            <a:off x="7212031" y="4314825"/>
            <a:ext cx="2004069" cy="86677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30"/>
          <p:cNvSpPr/>
          <p:nvPr/>
        </p:nvSpPr>
        <p:spPr>
          <a:xfrm>
            <a:off x="7212031" y="4333875"/>
            <a:ext cx="2004069" cy="0"/>
          </a:xfrm>
          <a:prstGeom prst="line">
            <a:avLst/>
          </a:prstGeom>
          <a:solidFill>
            <a:srgbClr val="FFFFFF">
              <a:alpha val="0"/>
            </a:srgbClr>
          </a:solidFill>
          <a:ln w="38100">
            <a:solidFill>
              <a:srgbClr val="1AA4B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326328" y="4524375"/>
            <a:ext cx="177547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479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추천 충전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326328" y="4686300"/>
            <a:ext cx="1775475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50" b="1" dirty="0">
                <a:solidFill>
                  <a:srgbClr val="10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1회 · 약 47.8분</a:t>
            </a:r>
            <a:endParaRPr lang="en-US" sz="1750" dirty="0"/>
          </a:p>
        </p:txBody>
      </p:sp>
      <p:sp>
        <p:nvSpPr>
          <p:cNvPr id="35" name="Shape 33"/>
          <p:cNvSpPr/>
          <p:nvPr/>
        </p:nvSpPr>
        <p:spPr>
          <a:xfrm>
            <a:off x="9330397" y="4314825"/>
            <a:ext cx="2003921" cy="86677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4"/>
          <p:cNvSpPr/>
          <p:nvPr/>
        </p:nvSpPr>
        <p:spPr>
          <a:xfrm>
            <a:off x="9330397" y="4333875"/>
            <a:ext cx="2003921" cy="0"/>
          </a:xfrm>
          <a:prstGeom prst="line">
            <a:avLst/>
          </a:prstGeom>
          <a:solidFill>
            <a:srgbClr val="FFFFFF">
              <a:alpha val="0"/>
            </a:srgbClr>
          </a:solidFill>
          <a:ln w="38100">
            <a:solidFill>
              <a:srgbClr val="1AA4B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444694" y="4524375"/>
            <a:ext cx="177532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479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목적지 SOC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9444694" y="4686300"/>
            <a:ext cx="1775326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50" b="1" dirty="0">
                <a:solidFill>
                  <a:srgbClr val="10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1750" dirty="0"/>
          </a:p>
        </p:txBody>
      </p:sp>
      <p:sp>
        <p:nvSpPr>
          <p:cNvPr id="39" name="Shape 37"/>
          <p:cNvSpPr/>
          <p:nvPr/>
        </p:nvSpPr>
        <p:spPr>
          <a:xfrm>
            <a:off x="609585" y="5867400"/>
            <a:ext cx="10972526" cy="552450"/>
          </a:xfrm>
          <a:prstGeom prst="rect">
            <a:avLst/>
          </a:prstGeom>
          <a:solidFill>
            <a:srgbClr val="1AA4B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8"/>
          <p:cNvSpPr/>
          <p:nvPr/>
        </p:nvSpPr>
        <p:spPr>
          <a:xfrm>
            <a:off x="838179" y="6015038"/>
            <a:ext cx="4873999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주행조건 기반 예측으로 충전 의사결정을 구체화</a:t>
            </a:r>
            <a:endParaRPr lang="en-US" sz="1350" dirty="0"/>
          </a:p>
        </p:txBody>
      </p:sp>
      <p:sp>
        <p:nvSpPr>
          <p:cNvPr id="41" name="Text 39"/>
          <p:cNvSpPr/>
          <p:nvPr/>
        </p:nvSpPr>
        <p:spPr>
          <a:xfrm>
            <a:off x="5712178" y="6057900"/>
            <a:ext cx="140356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BUSAN → INCHEON</a:t>
            </a:r>
            <a:endParaRPr lang="en-US" sz="1150" dirty="0"/>
          </a:p>
        </p:txBody>
      </p:sp>
    </p:spTree>
    <p:extLst>
      <p:ext uri="{BB962C8B-B14F-4D97-AF65-F5344CB8AC3E}">
        <p14:creationId xmlns:p14="http://schemas.microsoft.com/office/powerpoint/2010/main" val="18705070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A288692D-833E-493A-866A-0502437644D6}">
  <we:reference id="wa200010215" version="2.0.0.0" store="ko-KR" storeType="OMEX"/>
  <we:alternateReferences>
    <we:reference id="wa200010215" version="2.0.0.0" store="wa200010215" storeType="OMEX"/>
  </we:alternateReferences>
  <we:properties>
    <we:property name="bps.codex_control.document_id" value="&quot;2e61e429-ffd0-499a-a537-1ff4b8a463a5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699</Words>
  <Application>Microsoft Office PowerPoint</Application>
  <PresentationFormat>와이드스크린</PresentationFormat>
  <Paragraphs>193</Paragraphs>
  <Slides>11</Slides>
  <Notes>11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4" baseType="lpstr">
      <vt:lpstr>맑은 고딕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3</cp:revision>
  <dcterms:created xsi:type="dcterms:W3CDTF">2026-08-28T07:26:05Z</dcterms:created>
  <dcterms:modified xsi:type="dcterms:W3CDTF">2026-08-28T08:00:31Z</dcterms:modified>
</cp:coreProperties>
</file>